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7" r:id="rId3"/>
    <p:sldId id="271" r:id="rId4"/>
    <p:sldId id="276" r:id="rId5"/>
    <p:sldId id="277" r:id="rId6"/>
    <p:sldId id="278" r:id="rId7"/>
    <p:sldId id="260" r:id="rId8"/>
    <p:sldId id="275" r:id="rId9"/>
    <p:sldId id="27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8"/>
    <p:restoredTop sz="94704"/>
  </p:normalViewPr>
  <p:slideViewPr>
    <p:cSldViewPr snapToGrid="0">
      <p:cViewPr varScale="1">
        <p:scale>
          <a:sx n="105" d="100"/>
          <a:sy n="105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F94A9-3B06-F24F-A414-5DDEB7AA615C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50486-74F2-F049-A4B7-4D5E1261A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3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89110-9A37-8B18-E793-E3D67A587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3A72E-3FBD-3C7D-0753-1AA22AD16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2AC02-77BA-0DFF-A2F9-36A4CF01C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22D74-A6BD-6309-146D-91ED1F8A7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26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C5398-6DDF-781F-5EF7-114FD30E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45EA0-297F-5F36-CB56-A46A99382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38CF4-B41B-EA2E-3215-E1FDFDA2D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07DE6-CF54-B606-1A03-54ACED4FD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52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63AD4-E541-4D0E-6FC7-879101F0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F7F76-271E-E18B-8732-3AEF34404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A107B-5019-2F32-0C3A-0EA85BB68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16938-EB97-1417-0929-394C6764E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69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993B-E87D-847A-4BEE-0C31FB22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3825A-68EC-1635-FA62-3AF3689EA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9CB31-7ADF-9BA9-8AA2-1C48D7335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4119B-ECCA-A98D-B23C-BDCAD29F8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47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4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F3685-B519-6C09-646E-FA86A354B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2DBE8-0214-D908-03B5-650D9026D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EAB39-DFB9-6765-3B5C-7C02A08D4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D4FB3-36D7-29D0-D0D3-E61FB1814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28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FC51-4435-7E80-EF59-632EADDE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41ECE-9BFF-21E6-B7EA-00AFF9A1D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0DC63-3070-39ED-3E73-74693CD88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C0CDD-3448-E47A-7F6E-11977EBBA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F03B2-1763-0EF9-8D66-383A22BD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043AF-D063-78A1-08D1-47A453B84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90F11-C7E2-C9E8-AB08-2B216D40E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8AB55-FC99-B13B-EA95-8C32CE1AA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01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3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1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1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6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7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2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8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2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38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45D54-B42B-17B9-40D0-F91DA5CAD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dirty="0"/>
              <a:t>LLM Legal complaint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85F96-F3FB-CC15-2CC7-60882F30C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5105706"/>
            <a:ext cx="4857857" cy="1005657"/>
          </a:xfrm>
        </p:spPr>
        <p:txBody>
          <a:bodyPr>
            <a:normAutofit/>
          </a:bodyPr>
          <a:lstStyle/>
          <a:p>
            <a:r>
              <a:rPr lang="en-US" dirty="0"/>
              <a:t>Liz Meyer</a:t>
            </a:r>
          </a:p>
          <a:p>
            <a:r>
              <a:rPr lang="en-US" dirty="0"/>
              <a:t>COSC 5931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purple and white sky&#10;&#10;AI-generated content may be incorrect.">
            <a:extLst>
              <a:ext uri="{FF2B5EF4-FFF2-40B4-BE49-F238E27FC236}">
                <a16:creationId xmlns:a16="http://schemas.microsoft.com/office/drawing/2014/main" id="{FC0E5B4E-E186-5335-7CF5-5CAC2A4DB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8" r="12924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8122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E714-294C-946D-780F-C6FDC619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0F908-D6E1-9037-C957-E7209D81B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2221992"/>
            <a:ext cx="10691264" cy="3739896"/>
          </a:xfrm>
        </p:spPr>
        <p:txBody>
          <a:bodyPr>
            <a:normAutofit/>
          </a:bodyPr>
          <a:lstStyle/>
          <a:p>
            <a:r>
              <a:rPr lang="en-US" dirty="0"/>
              <a:t>Legal professionals spend significant time on early-stage case assessment</a:t>
            </a:r>
          </a:p>
          <a:p>
            <a:pPr lvl="1"/>
            <a:r>
              <a:rPr lang="en-US" dirty="0"/>
              <a:t>Reviewing complaints</a:t>
            </a:r>
          </a:p>
          <a:p>
            <a:pPr lvl="1"/>
            <a:r>
              <a:rPr lang="en-US" dirty="0"/>
              <a:t>Identifying key legal issues</a:t>
            </a:r>
          </a:p>
          <a:p>
            <a:pPr lvl="1"/>
            <a:r>
              <a:rPr lang="en-US" dirty="0"/>
              <a:t>Formulating initial discovery questions</a:t>
            </a:r>
          </a:p>
          <a:p>
            <a:r>
              <a:rPr lang="en-US" dirty="0"/>
              <a:t>Legal complaints are long, dense, and time-sensitive, and can require up to 3-6 hours of review per case</a:t>
            </a:r>
          </a:p>
          <a:p>
            <a:r>
              <a:rPr lang="en-US" dirty="0"/>
              <a:t>This creates a bottleneck in case assessment and can delay the development of an initial legal strategy</a:t>
            </a:r>
          </a:p>
        </p:txBody>
      </p:sp>
    </p:spTree>
    <p:extLst>
      <p:ext uri="{BB962C8B-B14F-4D97-AF65-F5344CB8AC3E}">
        <p14:creationId xmlns:p14="http://schemas.microsoft.com/office/powerpoint/2010/main" val="261867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ACA7C-48E2-D4D0-0371-F107294D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514C-361E-1D22-3BE2-38370A3AD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BAB9-12E8-88A4-C467-E463713F4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5691776" cy="3739896"/>
          </a:xfrm>
        </p:spPr>
        <p:txBody>
          <a:bodyPr>
            <a:normAutofit/>
          </a:bodyPr>
          <a:lstStyle/>
          <a:p>
            <a:r>
              <a:rPr lang="en-US" dirty="0"/>
              <a:t>Project Goal: Build an LLM-powered tool that lets a user:</a:t>
            </a:r>
          </a:p>
          <a:p>
            <a:pPr lvl="1"/>
            <a:r>
              <a:rPr lang="en-US" dirty="0"/>
              <a:t>Upload a legal document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Receive a structured case summary + actionable attorney next steps</a:t>
            </a:r>
          </a:p>
          <a:p>
            <a:r>
              <a:rPr lang="en-US" dirty="0"/>
              <a:t>Intended as a case triage assistant, not as a replacement for legal judgement</a:t>
            </a:r>
          </a:p>
        </p:txBody>
      </p:sp>
      <p:pic>
        <p:nvPicPr>
          <p:cNvPr id="1026" name="Picture 2" descr="Sample Complaint - Kelly Law Offices">
            <a:extLst>
              <a:ext uri="{FF2B5EF4-FFF2-40B4-BE49-F238E27FC236}">
                <a16:creationId xmlns:a16="http://schemas.microsoft.com/office/drawing/2014/main" id="{2AE7E98D-9E2E-58B5-FF42-C6BBEFE96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106" y="993047"/>
            <a:ext cx="3849702" cy="49688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896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E9D7C-99F1-BF62-8197-29DA988A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7B79A-AEE8-066B-1F8C-95845473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D03F99-0235-A239-B068-E29B61E62705}"/>
              </a:ext>
            </a:extLst>
          </p:cNvPr>
          <p:cNvSpPr/>
          <p:nvPr/>
        </p:nvSpPr>
        <p:spPr>
          <a:xfrm>
            <a:off x="703363" y="1915563"/>
            <a:ext cx="2701255" cy="9144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React Front End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 uploads .pdf, .docx, or .txt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14B73-EB76-FC34-D125-F2C13523BEDA}"/>
              </a:ext>
            </a:extLst>
          </p:cNvPr>
          <p:cNvSpPr/>
          <p:nvPr/>
        </p:nvSpPr>
        <p:spPr>
          <a:xfrm>
            <a:off x="4484664" y="3697867"/>
            <a:ext cx="3222667" cy="178886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Model: </a:t>
            </a:r>
            <a:r>
              <a:rPr lang="en-US" b="1" dirty="0" err="1">
                <a:solidFill>
                  <a:sysClr val="windowText" lastClr="000000"/>
                </a:solidFill>
              </a:rPr>
              <a:t>LLaMA</a:t>
            </a:r>
            <a:r>
              <a:rPr lang="en-US" b="1" dirty="0">
                <a:solidFill>
                  <a:sysClr val="windowText" lastClr="000000"/>
                </a:solidFill>
              </a:rPr>
              <a:t> 3.1 8B via Hugging Face API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Prompt 1 generates structured case summary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Prompt 2 generates attorney next steps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373D4E-7B4A-DF88-BBE2-11C2159ECBDD}"/>
              </a:ext>
            </a:extLst>
          </p:cNvPr>
          <p:cNvSpPr/>
          <p:nvPr/>
        </p:nvSpPr>
        <p:spPr>
          <a:xfrm>
            <a:off x="835488" y="4010169"/>
            <a:ext cx="2437003" cy="130759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Python / </a:t>
            </a:r>
            <a:r>
              <a:rPr lang="en-US" b="1" dirty="0" err="1">
                <a:solidFill>
                  <a:sysClr val="windowText" lastClr="000000"/>
                </a:solidFill>
              </a:rPr>
              <a:t>FastAPI</a:t>
            </a:r>
            <a:r>
              <a:rPr lang="en-US" b="1" dirty="0">
                <a:solidFill>
                  <a:sysClr val="windowText" lastClr="000000"/>
                </a:solidFill>
              </a:rPr>
              <a:t> Back End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Receives file and coordinates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7CE2F-6A29-24E0-37D4-639A25575A94}"/>
              </a:ext>
            </a:extLst>
          </p:cNvPr>
          <p:cNvSpPr/>
          <p:nvPr/>
        </p:nvSpPr>
        <p:spPr>
          <a:xfrm>
            <a:off x="4745371" y="1915563"/>
            <a:ext cx="2701255" cy="9144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Document Processing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Extracts plain text from the uploaded document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64007C-5DE2-C5A6-7C55-F1374DD1FC94}"/>
              </a:ext>
            </a:extLst>
          </p:cNvPr>
          <p:cNvSpPr/>
          <p:nvPr/>
        </p:nvSpPr>
        <p:spPr>
          <a:xfrm>
            <a:off x="8948256" y="3051369"/>
            <a:ext cx="2701255" cy="9144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Summary + follow-up guidance displayed in app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668FA0-0619-5E2A-D1DA-A412FD0A4C93}"/>
              </a:ext>
            </a:extLst>
          </p:cNvPr>
          <p:cNvCxnSpPr/>
          <p:nvPr/>
        </p:nvCxnSpPr>
        <p:spPr>
          <a:xfrm>
            <a:off x="3791824" y="1686187"/>
            <a:ext cx="0" cy="402336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7DAFE9-2A99-2914-D651-CC270BB874A5}"/>
              </a:ext>
            </a:extLst>
          </p:cNvPr>
          <p:cNvCxnSpPr/>
          <p:nvPr/>
        </p:nvCxnSpPr>
        <p:spPr>
          <a:xfrm>
            <a:off x="2045600" y="3135805"/>
            <a:ext cx="0" cy="56206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760E33-B1D2-4770-AFEA-23A350A386E4}"/>
              </a:ext>
            </a:extLst>
          </p:cNvPr>
          <p:cNvCxnSpPr/>
          <p:nvPr/>
        </p:nvCxnSpPr>
        <p:spPr>
          <a:xfrm>
            <a:off x="8382000" y="1686187"/>
            <a:ext cx="0" cy="402336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AE1A9-8C79-9CC7-5901-A6B238568BBE}"/>
              </a:ext>
            </a:extLst>
          </p:cNvPr>
          <p:cNvCxnSpPr/>
          <p:nvPr/>
        </p:nvCxnSpPr>
        <p:spPr>
          <a:xfrm>
            <a:off x="6095997" y="2946507"/>
            <a:ext cx="0" cy="56206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28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74524-B79D-8DB6-AA7C-CE4D4E3B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12D4-32A9-D803-32D9-2B8AD77D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0DEE5-4934-44A2-55E6-8E10C9E5E5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75"/>
          <a:stretch>
            <a:fillRect/>
          </a:stretch>
        </p:blipFill>
        <p:spPr>
          <a:xfrm>
            <a:off x="328569" y="100409"/>
            <a:ext cx="11534862" cy="650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84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81883A-AFF8-80E9-7CEB-A348AEFF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DC33-C439-B74D-45A7-89AD76C6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61DD9-0B29-38D3-FA63-150E21BC5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39219"/>
            <a:ext cx="6253058" cy="4200073"/>
          </a:xfrm>
        </p:spPr>
        <p:txBody>
          <a:bodyPr>
            <a:normAutofit fontScale="25000" lnSpcReduction="20000"/>
          </a:bodyPr>
          <a:lstStyle/>
          <a:p>
            <a:r>
              <a:rPr lang="en-US" sz="6000" b="1" dirty="0"/>
              <a:t>Significant</a:t>
            </a:r>
            <a:r>
              <a:rPr lang="en-US" sz="6000" dirty="0"/>
              <a:t> part of project development + very iterative process</a:t>
            </a:r>
          </a:p>
          <a:p>
            <a:r>
              <a:rPr lang="en-US" sz="6000" dirty="0"/>
              <a:t>Used human attorney to collaborate with and design the prompts</a:t>
            </a:r>
          </a:p>
          <a:p>
            <a:r>
              <a:rPr lang="en-US" sz="6000" dirty="0"/>
              <a:t>Used primarily zero-shot prompting</a:t>
            </a:r>
          </a:p>
          <a:p>
            <a:pPr lvl="1"/>
            <a:r>
              <a:rPr lang="en-US" sz="6000" dirty="0"/>
              <a:t>Model receives instructions and a legal document, but no full example answer</a:t>
            </a:r>
          </a:p>
          <a:p>
            <a:r>
              <a:rPr lang="en-US" sz="6000" dirty="0"/>
              <a:t>Added role prompting by telling the model it is assisting counsel reviewing a complaint</a:t>
            </a:r>
          </a:p>
          <a:p>
            <a:r>
              <a:rPr lang="en-US" sz="6000" dirty="0"/>
              <a:t>Used structured output prompting by requiring fixed Markdown headings</a:t>
            </a:r>
          </a:p>
          <a:p>
            <a:r>
              <a:rPr lang="en-US" sz="6000" dirty="0"/>
              <a:t>Required short bullets, no extra headings, no long paragraphs, no repetition of facts</a:t>
            </a:r>
          </a:p>
          <a:p>
            <a:r>
              <a:rPr lang="en-US" sz="6000" dirty="0"/>
              <a:t>Prevented generating questions already answered in the complaint</a:t>
            </a:r>
          </a:p>
          <a:p>
            <a:r>
              <a:rPr lang="en-US" sz="6000" dirty="0"/>
              <a:t>Used prompt chaining by splitting the process into two prompts:</a:t>
            </a:r>
          </a:p>
          <a:p>
            <a:pPr lvl="1"/>
            <a:r>
              <a:rPr lang="en-US" sz="6000" dirty="0"/>
              <a:t>Summary prompt</a:t>
            </a:r>
          </a:p>
          <a:p>
            <a:pPr lvl="1"/>
            <a:r>
              <a:rPr lang="en-US" sz="6000" dirty="0"/>
              <a:t>Attorney next-steps prompt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F70FB-534C-078E-C2E9-017B928BD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122" y="1744385"/>
            <a:ext cx="4859965" cy="361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05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DF3F2-6931-5DF2-61E1-31A75ED0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A0041-9F03-5FB8-5354-9B527D29F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60377"/>
            <a:ext cx="10356053" cy="4505433"/>
          </a:xfrm>
        </p:spPr>
        <p:txBody>
          <a:bodyPr>
            <a:normAutofit fontScale="77500" lnSpcReduction="20000"/>
          </a:bodyPr>
          <a:lstStyle/>
          <a:p>
            <a:r>
              <a:rPr lang="en-US" sz="1800" dirty="0"/>
              <a:t>10 publicly available federal legal complaints, representing a range of case types and complexity</a:t>
            </a:r>
          </a:p>
          <a:p>
            <a:r>
              <a:rPr lang="en-US" sz="1800" dirty="0"/>
              <a:t>Sourced from PACER</a:t>
            </a:r>
          </a:p>
          <a:p>
            <a:r>
              <a:rPr lang="en-US" sz="1800" b="1" dirty="0"/>
              <a:t>Employment / Workplace Disputes</a:t>
            </a:r>
          </a:p>
          <a:p>
            <a:pPr lvl="1"/>
            <a:r>
              <a:rPr lang="en-US" sz="1600" dirty="0"/>
              <a:t>Workplace sexual harassment + retaliation</a:t>
            </a:r>
          </a:p>
          <a:p>
            <a:pPr lvl="1"/>
            <a:r>
              <a:rPr lang="en-US" sz="1600" dirty="0"/>
              <a:t>Unpaid commissions + breach of contract</a:t>
            </a:r>
          </a:p>
          <a:p>
            <a:r>
              <a:rPr lang="en-US" sz="1800" b="1" dirty="0"/>
              <a:t>Civil Rights</a:t>
            </a:r>
          </a:p>
          <a:p>
            <a:pPr lvl="1"/>
            <a:r>
              <a:rPr lang="en-US" sz="1600" dirty="0"/>
              <a:t>Americans with Disabilities Act (ADA) violation</a:t>
            </a:r>
          </a:p>
          <a:p>
            <a:pPr lvl="1"/>
            <a:r>
              <a:rPr lang="en-US" sz="1600" dirty="0"/>
              <a:t>Discrimination based on national origin</a:t>
            </a:r>
          </a:p>
          <a:p>
            <a:r>
              <a:rPr lang="en-US" sz="1800" b="1" dirty="0"/>
              <a:t>Government</a:t>
            </a:r>
          </a:p>
          <a:p>
            <a:pPr lvl="1"/>
            <a:r>
              <a:rPr lang="en-US" sz="1600" dirty="0"/>
              <a:t>Immigration/ICE</a:t>
            </a:r>
          </a:p>
          <a:p>
            <a:pPr lvl="1"/>
            <a:r>
              <a:rPr lang="en-US" sz="1600" dirty="0"/>
              <a:t>Whistleblowing</a:t>
            </a:r>
          </a:p>
          <a:p>
            <a:r>
              <a:rPr lang="en-US" sz="1800" b="1" dirty="0"/>
              <a:t>Criminal Law</a:t>
            </a:r>
          </a:p>
          <a:p>
            <a:pPr lvl="1"/>
            <a:r>
              <a:rPr lang="en-US" sz="1600" dirty="0"/>
              <a:t>Drug trafficking + firearms</a:t>
            </a:r>
          </a:p>
          <a:p>
            <a:pPr lvl="1"/>
            <a:r>
              <a:rPr lang="en-US" sz="1600" dirty="0"/>
              <a:t>Human trafficking + obstruction of justice</a:t>
            </a:r>
          </a:p>
          <a:p>
            <a:r>
              <a:rPr lang="en-US" sz="1800" b="1" dirty="0"/>
              <a:t>Business / Intellectual Property</a:t>
            </a:r>
          </a:p>
          <a:p>
            <a:pPr lvl="1"/>
            <a:r>
              <a:rPr lang="en-US" sz="1600" dirty="0"/>
              <a:t>Trademark infringement</a:t>
            </a:r>
          </a:p>
          <a:p>
            <a:pPr lvl="1"/>
            <a:r>
              <a:rPr lang="en-US" sz="1600" dirty="0"/>
              <a:t>Class action</a:t>
            </a:r>
          </a:p>
          <a:p>
            <a:endParaRPr lang="en-US" sz="6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19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A3B12-1FF8-ABBF-27DD-90B6ACACC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50F4-5282-F61C-EC19-D59F3BF7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7F430-3072-7504-7BCA-9644A0107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9865"/>
            <a:ext cx="10356053" cy="4505433"/>
          </a:xfrm>
        </p:spPr>
        <p:txBody>
          <a:bodyPr>
            <a:normAutofit/>
          </a:bodyPr>
          <a:lstStyle/>
          <a:p>
            <a:r>
              <a:rPr lang="en-US" sz="1800" dirty="0"/>
              <a:t>Evaluation of legal cases + step actionability is a very objective process</a:t>
            </a:r>
          </a:p>
          <a:p>
            <a:r>
              <a:rPr lang="en-US" sz="1800" dirty="0"/>
              <a:t>1 human attorney reviewed all 10 complaints and filled out a worksheet with notes about the case (main claims, parties, context, etc.) </a:t>
            </a:r>
          </a:p>
          <a:p>
            <a:r>
              <a:rPr lang="en-US" sz="1800" dirty="0"/>
              <a:t>All 10 complaints were run through the tool + their output was saved</a:t>
            </a:r>
          </a:p>
          <a:p>
            <a:r>
              <a:rPr lang="en-US" sz="1800" dirty="0"/>
              <a:t>The attorney evaluated the outputs on 5 different categories, using a 1-5 scale</a:t>
            </a:r>
          </a:p>
          <a:p>
            <a:pPr lvl="1"/>
            <a:r>
              <a:rPr lang="en-US" sz="1400" b="1" dirty="0"/>
              <a:t>Factual Accuracy </a:t>
            </a:r>
            <a:r>
              <a:rPr lang="en-US" sz="1400" dirty="0"/>
              <a:t>– Did the output correctly reflect what the complaint says?</a:t>
            </a:r>
          </a:p>
          <a:p>
            <a:pPr lvl="1"/>
            <a:r>
              <a:rPr lang="en-US" sz="1400" b="1" dirty="0"/>
              <a:t>Completeness</a:t>
            </a:r>
            <a:r>
              <a:rPr lang="en-US" sz="1400" dirty="0"/>
              <a:t> – Did it capture the most important facts, claims, parties, and dates?</a:t>
            </a:r>
          </a:p>
          <a:p>
            <a:pPr lvl="1"/>
            <a:r>
              <a:rPr lang="en-US" sz="1400" b="1" dirty="0"/>
              <a:t>Legal Precision </a:t>
            </a:r>
            <a:r>
              <a:rPr lang="en-US" sz="1400" dirty="0"/>
              <a:t>– Did it state the claims, posture, and legal framing correctly?</a:t>
            </a:r>
          </a:p>
          <a:p>
            <a:pPr lvl="1"/>
            <a:r>
              <a:rPr lang="en-US" sz="1400" b="1" dirty="0"/>
              <a:t>Attorney Usefulness </a:t>
            </a:r>
            <a:r>
              <a:rPr lang="en-US" sz="1400" dirty="0"/>
              <a:t>– Would this help an attorney quickly understand a case?</a:t>
            </a:r>
          </a:p>
          <a:p>
            <a:pPr lvl="1"/>
            <a:r>
              <a:rPr lang="en-US" sz="1400" b="1" dirty="0"/>
              <a:t>Actionability</a:t>
            </a:r>
            <a:r>
              <a:rPr lang="en-US" sz="1400" dirty="0"/>
              <a:t> – Were the next steps and questions concrete and practical?</a:t>
            </a:r>
          </a:p>
          <a:p>
            <a:endParaRPr lang="en-US" sz="6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218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E3F0-8ACA-99DA-CDED-B2DD82F4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F7F0-5C46-8801-4F99-69F2D33C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9C1B7-00A0-77D9-F58C-3437A1F86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24" y="1818206"/>
            <a:ext cx="6144782" cy="4505433"/>
          </a:xfrm>
        </p:spPr>
        <p:txBody>
          <a:bodyPr>
            <a:normAutofit/>
          </a:bodyPr>
          <a:lstStyle/>
          <a:p>
            <a:r>
              <a:rPr lang="en-US" sz="1800" dirty="0"/>
              <a:t>Takeaways</a:t>
            </a:r>
          </a:p>
          <a:p>
            <a:pPr lvl="1"/>
            <a:r>
              <a:rPr lang="en-US" sz="1600" dirty="0"/>
              <a:t>Tool is very strong at first pass case review + summarization</a:t>
            </a:r>
          </a:p>
          <a:p>
            <a:pPr lvl="1"/>
            <a:r>
              <a:rPr lang="en-US" sz="1600" dirty="0"/>
              <a:t>Usually correctly identified parties, posture, case type, and main claims/charges</a:t>
            </a:r>
          </a:p>
          <a:p>
            <a:pPr lvl="1"/>
            <a:r>
              <a:rPr lang="en-US" sz="1600" dirty="0"/>
              <a:t>Tool is weaker at extracting attorney-critical details + suggesting actionable next steps</a:t>
            </a:r>
          </a:p>
          <a:p>
            <a:pPr lvl="2"/>
            <a:r>
              <a:rPr lang="en-US" sz="1400" dirty="0"/>
              <a:t>Would often ask questions that were already answered somewhere else in the document or suggest irrelevant or unimportant steps</a:t>
            </a:r>
          </a:p>
          <a:p>
            <a:pPr lvl="1"/>
            <a:r>
              <a:rPr lang="en-US" sz="1600" dirty="0"/>
              <a:t>Confusion over who the output was for</a:t>
            </a:r>
          </a:p>
          <a:p>
            <a:pPr lvl="2"/>
            <a:r>
              <a:rPr lang="en-US" sz="1400" dirty="0"/>
              <a:t>Plaintiff or defense counsel?</a:t>
            </a:r>
          </a:p>
          <a:p>
            <a:pPr lvl="1"/>
            <a:r>
              <a:rPr lang="en-US" sz="1600" dirty="0"/>
              <a:t>Tool could not extract text from scanned documents (images)</a:t>
            </a:r>
          </a:p>
          <a:p>
            <a:pPr lvl="2"/>
            <a:r>
              <a:rPr lang="en-US" sz="1400" dirty="0"/>
              <a:t>Two cases were excluded</a:t>
            </a:r>
          </a:p>
          <a:p>
            <a:pPr lvl="1"/>
            <a:endParaRPr lang="en-US" sz="1600" dirty="0"/>
          </a:p>
          <a:p>
            <a:endParaRPr lang="en-US" sz="6000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7685D9-18BB-8C0D-D55E-0DD985C67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00637"/>
              </p:ext>
            </p:extLst>
          </p:nvPr>
        </p:nvGraphicFramePr>
        <p:xfrm>
          <a:off x="6778305" y="2319020"/>
          <a:ext cx="4899171" cy="22199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59426">
                  <a:extLst>
                    <a:ext uri="{9D8B030D-6E8A-4147-A177-3AD203B41FA5}">
                      <a16:colId xmlns:a16="http://schemas.microsoft.com/office/drawing/2014/main" val="882130644"/>
                    </a:ext>
                  </a:extLst>
                </a:gridCol>
                <a:gridCol w="2639745">
                  <a:extLst>
                    <a:ext uri="{9D8B030D-6E8A-4147-A177-3AD203B41FA5}">
                      <a16:colId xmlns:a16="http://schemas.microsoft.com/office/drawing/2014/main" val="2822937311"/>
                    </a:ext>
                  </a:extLst>
                </a:gridCol>
              </a:tblGrid>
              <a:tr h="364142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Score (out of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284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Factual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38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17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Legal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18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Attorney Usefulness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8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Actionability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419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574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8B77B1-485D-8481-0342-93D0690D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CF72-4139-FDD0-FE6F-30E46010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+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CA20F-289F-0046-0FDF-88397D16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on more case types + test different models</a:t>
            </a:r>
          </a:p>
          <a:p>
            <a:r>
              <a:rPr lang="en-US" dirty="0"/>
              <a:t>Add image processing capabilities</a:t>
            </a:r>
          </a:p>
          <a:p>
            <a:r>
              <a:rPr lang="en-US" dirty="0"/>
              <a:t>Add attorney role selector to further tailor next steps</a:t>
            </a:r>
          </a:p>
          <a:p>
            <a:pPr lvl="1"/>
            <a:r>
              <a:rPr lang="en-US" dirty="0"/>
              <a:t>Plaintiff’s counsel</a:t>
            </a:r>
          </a:p>
          <a:p>
            <a:pPr lvl="1"/>
            <a:r>
              <a:rPr lang="en-US" dirty="0"/>
              <a:t>Defense counsel</a:t>
            </a:r>
          </a:p>
          <a:p>
            <a:pPr lvl="1"/>
            <a:r>
              <a:rPr lang="en-US" dirty="0"/>
              <a:t>Prosecution</a:t>
            </a:r>
          </a:p>
          <a:p>
            <a:r>
              <a:rPr lang="en-US" dirty="0"/>
              <a:t>Improve case type-specific next steps</a:t>
            </a:r>
          </a:p>
          <a:p>
            <a:pPr lvl="1"/>
            <a:r>
              <a:rPr lang="en-US" dirty="0"/>
              <a:t>Ex: An IP case and a criminal case should have vastly different next step suggestions + discovery questions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5393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663</Words>
  <Application>Microsoft Macintosh PowerPoint</Application>
  <PresentationFormat>Widescreen</PresentationFormat>
  <Paragraphs>107</Paragraphs>
  <Slides>10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Calisto MT</vt:lpstr>
      <vt:lpstr>Univers Condensed</vt:lpstr>
      <vt:lpstr>Wingdings</vt:lpstr>
      <vt:lpstr>ChronicleVTI</vt:lpstr>
      <vt:lpstr>LLM Legal complaint analyzer</vt:lpstr>
      <vt:lpstr>problem</vt:lpstr>
      <vt:lpstr>Goal</vt:lpstr>
      <vt:lpstr>architecture</vt:lpstr>
      <vt:lpstr>Lessons learned</vt:lpstr>
      <vt:lpstr>Prompt engineering</vt:lpstr>
      <vt:lpstr>Evaluation - Dataset </vt:lpstr>
      <vt:lpstr>Evaluation - process</vt:lpstr>
      <vt:lpstr>Evaluation results</vt:lpstr>
      <vt:lpstr>Next steps + 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Meyer, Elizabeth</dc:creator>
  <cp:lastModifiedBy>Meyer, Elizabeth</cp:lastModifiedBy>
  <cp:revision>14</cp:revision>
  <dcterms:created xsi:type="dcterms:W3CDTF">2026-02-24T02:40:22Z</dcterms:created>
  <dcterms:modified xsi:type="dcterms:W3CDTF">2026-04-28T03:21:49Z</dcterms:modified>
</cp:coreProperties>
</file>